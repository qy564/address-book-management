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C3E50"/>
                </a:solidFill>
              </a:defRPr>
            </a:pPr>
            <a:r>
              <a:t>通讯录管理系统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F8C8D"/>
                </a:solidFill>
              </a:defRPr>
            </a:pPr>
            <a:r>
              <a:t>基于C语言的控制台通讯录程序设计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840480"/>
            <a:ext cx="4876495" cy="45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C3E50"/>
                </a:solidFill>
              </a:defRPr>
            </a:pPr>
            <a:r>
              <a:t>秦宇  2025级通信工程本科一班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F8C8D"/>
                </a:solidFill>
              </a:defRPr>
            </a:pPr>
            <a:r>
              <a:t>《C语言程序设计》课程答辩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目  录</a:t>
            </a:r>
          </a:p>
        </p:txBody>
      </p:sp>
      <p:sp>
        <p:nvSpPr>
          <p:cNvPr id="3" name="Oval 2"/>
          <p:cNvSpPr/>
          <p:nvPr/>
        </p:nvSpPr>
        <p:spPr>
          <a:xfrm>
            <a:off x="1371600" y="1371600"/>
            <a:ext cx="548640" cy="54864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1417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C3E50"/>
                </a:solidFill>
              </a:defRPr>
            </a:pPr>
            <a:r>
              <a:t>项目概述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2194560"/>
            <a:ext cx="548640" cy="54864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224027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C3E50"/>
                </a:solidFill>
              </a:defRPr>
            </a:pPr>
            <a:r>
              <a:t>数据结构设计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3017520"/>
            <a:ext cx="548640" cy="54864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306323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C3E50"/>
                </a:solidFill>
              </a:defRPr>
            </a:pPr>
            <a:r>
              <a:t>系统功能流程图</a:t>
            </a:r>
          </a:p>
        </p:txBody>
      </p:sp>
      <p:sp>
        <p:nvSpPr>
          <p:cNvPr id="9" name="Oval 8"/>
          <p:cNvSpPr/>
          <p:nvPr/>
        </p:nvSpPr>
        <p:spPr>
          <a:xfrm>
            <a:off x="1371600" y="3840480"/>
            <a:ext cx="548640" cy="54864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3886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C3E50"/>
                </a:solidFill>
              </a:defRPr>
            </a:pPr>
            <a:r>
              <a:t>核心代码展示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0" y="4663440"/>
            <a:ext cx="548640" cy="54864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470915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C3E50"/>
                </a:solidFill>
              </a:defRPr>
            </a:pPr>
            <a:r>
              <a:t>运行演示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5486400"/>
            <a:ext cx="548640" cy="54864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5532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C3E50"/>
                </a:solidFill>
              </a:defRPr>
            </a:pPr>
            <a:r>
              <a:t>总结与体会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一、项目概述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</a:defRPr>
            </a:pPr>
            <a:r>
              <a:t>项目名称：通讯录管理系统</a:t>
            </a:r>
            <a:br/>
            <a:br/>
            <a:r>
              <a:t>开发语言：C语言</a:t>
            </a:r>
            <a:br/>
            <a:br/>
            <a:r>
              <a:t>功能简介：</a:t>
            </a:r>
            <a:br/>
            <a:r>
              <a:t>  • 添加联系人（姓名 + 电话号码）</a:t>
            </a:r>
            <a:br/>
            <a:r>
              <a:t>  • 查看所有联系人（列表展示）</a:t>
            </a:r>
            <a:br/>
            <a:r>
              <a:t>  • 按姓名查找联系人</a:t>
            </a:r>
            <a:br/>
            <a:r>
              <a:t>  • 删除指定联系人</a:t>
            </a:r>
            <a:br/>
            <a:r>
              <a:t>  • 退出系统</a:t>
            </a:r>
            <a:br/>
            <a:br/>
            <a:r>
              <a:t>设计思路：采用结构体数组存储联系人信息，</a:t>
            </a:r>
            <a:br/>
            <a:r>
              <a:t>通过主循环菜单驱动各功能模块。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二、数据结构设计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058400" cy="2286000"/>
          </a:xfrm>
          <a:prstGeom prst="roundRect">
            <a:avLst/>
          </a:prstGeom>
          <a:solidFill>
            <a:srgbClr val="2D2D2D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A8FF60"/>
                </a:solidFill>
                <a:latin typeface="Consolas"/>
              </a:defRPr>
            </a:pPr>
            <a:r>
              <a:t>#define MAX 50</a:t>
            </a:r>
            <a:br/>
            <a:br/>
            <a:r>
              <a:t>typedef struct {</a:t>
            </a:r>
            <a:br/>
            <a:r>
              <a:t>    char name[20];     // 联系人姓名</a:t>
            </a:r>
            <a:br/>
            <a:r>
              <a:t>    char tel[15];      // 电话号码</a:t>
            </a:r>
            <a:br/>
            <a:r>
              <a:t>} contact;</a:t>
            </a:r>
            <a:br/>
            <a:br/>
            <a:r>
              <a:t>contact book[MAX];     // 联系人数组</a:t>
            </a:r>
            <a:br/>
            <a:r>
              <a:t>int count = 0;         // 当前联系人数量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</a:defRPr>
            </a:pPr>
            <a:r>
              <a:t>设计说明：</a:t>
            </a:r>
            <a:br/>
            <a:r>
              <a:t>  • 使用结构体 contact 封装姓名和电话两个字段</a:t>
            </a:r>
            <a:br/>
            <a:r>
              <a:t>  • 使用 contact 类型数组 book[MAX] 存储最多50个联系人</a:t>
            </a:r>
            <a:br/>
            <a:r>
              <a:t>  • 全局变量 count 记录当前联系人数量，作为数组索引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三、系统功能流程图 — 主程序</a:t>
            </a:r>
          </a:p>
        </p:txBody>
      </p:sp>
      <p:sp>
        <p:nvSpPr>
          <p:cNvPr id="3" name="Oval 2"/>
          <p:cNvSpPr/>
          <p:nvPr/>
        </p:nvSpPr>
        <p:spPr>
          <a:xfrm>
            <a:off x="4876495" y="1188720"/>
            <a:ext cx="2437790" cy="548640"/>
          </a:xfrm>
          <a:prstGeom prst="ellipse">
            <a:avLst/>
          </a:prstGeom>
          <a:solidFill>
            <a:srgbClr val="27AE60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</a:defRPr>
            </a:pPr>
            <a:r>
              <a:t>开始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5390" y="1737360"/>
            <a:ext cx="0" cy="36576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266590" y="2103120"/>
            <a:ext cx="3657600" cy="64008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</a:defRPr>
            </a:pPr>
            <a:r>
              <a:t>显示菜单 menu()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95390" y="2743200"/>
            <a:ext cx="0" cy="27432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arallelogram 6"/>
          <p:cNvSpPr/>
          <p:nvPr/>
        </p:nvSpPr>
        <p:spPr>
          <a:xfrm>
            <a:off x="4876495" y="3017520"/>
            <a:ext cx="2437790" cy="548640"/>
          </a:xfrm>
          <a:prstGeom prst="parallelogram">
            <a:avLst/>
          </a:prstGeom>
          <a:solidFill>
            <a:srgbClr val="E8DAEF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</a:defRPr>
            </a:pPr>
            <a:r>
              <a:t>输入选项 op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5390" y="3566160"/>
            <a:ext cx="0" cy="27432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iamond 8"/>
          <p:cNvSpPr/>
          <p:nvPr/>
        </p:nvSpPr>
        <p:spPr>
          <a:xfrm>
            <a:off x="4114800" y="3840480"/>
            <a:ext cx="3962095" cy="914400"/>
          </a:xfrm>
          <a:prstGeom prst="diamond">
            <a:avLst/>
          </a:prstGeom>
          <a:solidFill>
            <a:srgbClr val="FDEDEC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</a:defRPr>
            </a:pPr>
            <a:r>
              <a:t>switch(op)</a:t>
            </a:r>
            <a:br/>
            <a:r>
              <a:t>判断选项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286000" y="4297680"/>
            <a:ext cx="1828800" cy="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1520" y="3931920"/>
            <a:ext cx="1554480" cy="73152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</a:defRPr>
            </a:pPr>
            <a:r>
              <a:t>case 1</a:t>
            </a:r>
            <a:br/>
            <a:r>
              <a:t>add()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286000" y="3474720"/>
            <a:ext cx="0" cy="45720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371600" y="3200400"/>
            <a:ext cx="1828800" cy="54864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</a:defRPr>
            </a:pPr>
            <a:r>
              <a:t>case 4</a:t>
            </a:r>
            <a:br/>
            <a:r>
              <a:t>del()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71600" y="3749039"/>
            <a:ext cx="0" cy="182881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076895" y="4297680"/>
            <a:ext cx="1828800" cy="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905695" y="3931920"/>
            <a:ext cx="1554480" cy="73152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</a:defRPr>
            </a:pPr>
            <a:r>
              <a:t>case 2</a:t>
            </a:r>
            <a:br/>
            <a:r>
              <a:t>show()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9905695" y="3474720"/>
            <a:ext cx="0" cy="45720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991295" y="3200400"/>
            <a:ext cx="1828800" cy="54864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</a:defRPr>
            </a:pPr>
            <a:r>
              <a:t>case 3</a:t>
            </a:r>
            <a:br/>
            <a:r>
              <a:t>search()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991295" y="3749039"/>
            <a:ext cx="0" cy="182881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076895" y="4297680"/>
            <a:ext cx="2438705" cy="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515600" y="4297680"/>
            <a:ext cx="0" cy="100584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601200" y="5303520"/>
            <a:ext cx="1828800" cy="548640"/>
          </a:xfrm>
          <a:prstGeom prst="ellipse">
            <a:avLst/>
          </a:prstGeom>
          <a:solidFill>
            <a:srgbClr val="E74C3C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</a:defRPr>
            </a:pPr>
            <a:r>
              <a:t>退出程序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95390" y="4754880"/>
            <a:ext cx="0" cy="36576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058400" y="5120640"/>
            <a:ext cx="1371600" cy="457200"/>
          </a:xfrm>
          <a:prstGeom prst="roundRect">
            <a:avLst/>
          </a:prstGeom>
          <a:solidFill>
            <a:srgbClr val="F39C12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default</a:t>
            </a:r>
            <a:br/>
            <a:r>
              <a:t>重新输入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三、系统功能流程图 — 添加联系人 add()</a:t>
            </a:r>
          </a:p>
        </p:txBody>
      </p:sp>
      <p:sp>
        <p:nvSpPr>
          <p:cNvPr id="3" name="Oval 2"/>
          <p:cNvSpPr/>
          <p:nvPr/>
        </p:nvSpPr>
        <p:spPr>
          <a:xfrm>
            <a:off x="4876495" y="1371600"/>
            <a:ext cx="2437790" cy="548640"/>
          </a:xfrm>
          <a:prstGeom prst="ellipse">
            <a:avLst/>
          </a:prstGeom>
          <a:solidFill>
            <a:srgbClr val="27AE60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add() 开始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5390" y="1920240"/>
            <a:ext cx="0" cy="27432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iamond 4"/>
          <p:cNvSpPr/>
          <p:nvPr/>
        </p:nvSpPr>
        <p:spPr>
          <a:xfrm>
            <a:off x="4206240" y="2194560"/>
            <a:ext cx="3657600" cy="731520"/>
          </a:xfrm>
          <a:prstGeom prst="diamond">
            <a:avLst/>
          </a:prstGeom>
          <a:solidFill>
            <a:srgbClr val="FDEDEC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</a:defRPr>
            </a:pPr>
            <a:r>
              <a:t>count &gt;= MAX ?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2286000" y="2560320"/>
            <a:ext cx="1920240" cy="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097280" y="2377440"/>
            <a:ext cx="1188720" cy="457200"/>
          </a:xfrm>
          <a:prstGeom prst="roundRect">
            <a:avLst/>
          </a:prstGeom>
          <a:solidFill>
            <a:srgbClr val="E74C3C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通讯录已满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5390" y="2926080"/>
            <a:ext cx="0" cy="27432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arallelogram 8"/>
          <p:cNvSpPr/>
          <p:nvPr/>
        </p:nvSpPr>
        <p:spPr>
          <a:xfrm>
            <a:off x="4206240" y="3200400"/>
            <a:ext cx="3657600" cy="548640"/>
          </a:xfrm>
          <a:prstGeom prst="parallelogram">
            <a:avLst/>
          </a:prstGeom>
          <a:solidFill>
            <a:srgbClr val="E8DAEF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</a:defRPr>
            </a:pPr>
            <a:r>
              <a:t>输入姓名 name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5390" y="3749039"/>
            <a:ext cx="0" cy="274321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arallelogram 10"/>
          <p:cNvSpPr/>
          <p:nvPr/>
        </p:nvSpPr>
        <p:spPr>
          <a:xfrm>
            <a:off x="4206240" y="4023360"/>
            <a:ext cx="3657600" cy="548640"/>
          </a:xfrm>
          <a:prstGeom prst="parallelogram">
            <a:avLst/>
          </a:prstGeom>
          <a:solidFill>
            <a:srgbClr val="E8DAEF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</a:defRPr>
            </a:pPr>
            <a:r>
              <a:t>输入电话 tel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5390" y="4572000"/>
            <a:ext cx="0" cy="27432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266590" y="4846320"/>
            <a:ext cx="3657600" cy="54864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</a:defRPr>
            </a:pPr>
            <a:r>
              <a:t>count++，提示成功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5390" y="5394960"/>
            <a:ext cx="0" cy="27432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876495" y="5669280"/>
            <a:ext cx="2437790" cy="457200"/>
          </a:xfrm>
          <a:prstGeom prst="ellipse">
            <a:avLst/>
          </a:prstGeom>
          <a:solidFill>
            <a:srgbClr val="27AE60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返回主菜单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三、系统功能流程图 — 查看联系人 show()</a:t>
            </a:r>
          </a:p>
        </p:txBody>
      </p:sp>
      <p:sp>
        <p:nvSpPr>
          <p:cNvPr id="3" name="Oval 2"/>
          <p:cNvSpPr/>
          <p:nvPr/>
        </p:nvSpPr>
        <p:spPr>
          <a:xfrm>
            <a:off x="4876495" y="1188720"/>
            <a:ext cx="2437790" cy="548640"/>
          </a:xfrm>
          <a:prstGeom prst="ellipse">
            <a:avLst/>
          </a:prstGeom>
          <a:solidFill>
            <a:srgbClr val="27AE60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show() 开始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5390" y="1737360"/>
            <a:ext cx="0" cy="27432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iamond 4"/>
          <p:cNvSpPr/>
          <p:nvPr/>
        </p:nvSpPr>
        <p:spPr>
          <a:xfrm>
            <a:off x="4206240" y="2011680"/>
            <a:ext cx="3657600" cy="731520"/>
          </a:xfrm>
          <a:prstGeom prst="diamond">
            <a:avLst/>
          </a:prstGeom>
          <a:solidFill>
            <a:srgbClr val="FDEDEC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</a:defRPr>
            </a:pPr>
            <a:r>
              <a:t>count == 0 ?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2286000" y="2377440"/>
            <a:ext cx="1920240" cy="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097280" y="2194560"/>
            <a:ext cx="1188720" cy="457200"/>
          </a:xfrm>
          <a:prstGeom prst="roundRect">
            <a:avLst/>
          </a:prstGeom>
          <a:solidFill>
            <a:srgbClr val="E74C3C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查无此人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5390" y="2743200"/>
            <a:ext cx="0" cy="27432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66590" y="3017520"/>
            <a:ext cx="3657600" cy="54864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</a:defRPr>
            </a:pPr>
            <a:r>
              <a:t>打印表头：序号 姓名 电话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5390" y="3566160"/>
            <a:ext cx="0" cy="27432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iamond 10"/>
          <p:cNvSpPr/>
          <p:nvPr/>
        </p:nvSpPr>
        <p:spPr>
          <a:xfrm>
            <a:off x="4114800" y="3840480"/>
            <a:ext cx="3962095" cy="640080"/>
          </a:xfrm>
          <a:prstGeom prst="diamond">
            <a:avLst/>
          </a:prstGeom>
          <a:solidFill>
            <a:srgbClr val="FDEDEC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</a:defRPr>
            </a:pPr>
            <a:r>
              <a:t>for 循环</a:t>
            </a:r>
            <a:br/>
            <a:r>
              <a:t>i &lt; count 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286000" y="4160520"/>
            <a:ext cx="1828800" cy="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1520" y="3931920"/>
            <a:ext cx="1554480" cy="45720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</a:defRPr>
            </a:pPr>
            <a:r>
              <a:t>打印 book[i]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4160520"/>
            <a:ext cx="0" cy="59436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" y="4754880"/>
            <a:ext cx="5363870" cy="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76895" y="4160520"/>
            <a:ext cx="1798625" cy="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875520" y="4160520"/>
            <a:ext cx="0" cy="96012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6095390" y="5120640"/>
            <a:ext cx="3780130" cy="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876495" y="5120640"/>
            <a:ext cx="2437790" cy="457200"/>
          </a:xfrm>
          <a:prstGeom prst="ellipse">
            <a:avLst/>
          </a:prstGeom>
          <a:solidFill>
            <a:srgbClr val="27AE60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返回主菜单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三、系统功能流程图 — 查找联系人 search()</a:t>
            </a:r>
          </a:p>
        </p:txBody>
      </p:sp>
      <p:sp>
        <p:nvSpPr>
          <p:cNvPr id="3" name="Oval 2"/>
          <p:cNvSpPr/>
          <p:nvPr/>
        </p:nvSpPr>
        <p:spPr>
          <a:xfrm>
            <a:off x="4876495" y="1188720"/>
            <a:ext cx="2437790" cy="548640"/>
          </a:xfrm>
          <a:prstGeom prst="ellipse">
            <a:avLst/>
          </a:prstGeom>
          <a:solidFill>
            <a:srgbClr val="27AE60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search() 开始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5390" y="1737360"/>
            <a:ext cx="0" cy="27432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Parallelogram 4"/>
          <p:cNvSpPr/>
          <p:nvPr/>
        </p:nvSpPr>
        <p:spPr>
          <a:xfrm>
            <a:off x="4266590" y="2011680"/>
            <a:ext cx="3657600" cy="548640"/>
          </a:xfrm>
          <a:prstGeom prst="parallelogram">
            <a:avLst/>
          </a:prstGeom>
          <a:solidFill>
            <a:srgbClr val="E8DAEF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</a:defRPr>
            </a:pPr>
            <a:r>
              <a:t>输入要查找的姓名 name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95390" y="2560320"/>
            <a:ext cx="0" cy="27432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iamond 6"/>
          <p:cNvSpPr/>
          <p:nvPr/>
        </p:nvSpPr>
        <p:spPr>
          <a:xfrm>
            <a:off x="4114800" y="2834640"/>
            <a:ext cx="3962095" cy="731520"/>
          </a:xfrm>
          <a:prstGeom prst="diamond">
            <a:avLst/>
          </a:prstGeom>
          <a:solidFill>
            <a:srgbClr val="FDEDEC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</a:defRPr>
            </a:pPr>
            <a:r>
              <a:t>for 循环遍历</a:t>
            </a:r>
            <a:br/>
            <a:r>
              <a:t>strcmp 匹配?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2286000" y="3200400"/>
            <a:ext cx="1828800" cy="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1520" y="3017520"/>
            <a:ext cx="1554480" cy="457200"/>
          </a:xfrm>
          <a:prstGeom prst="roundRect">
            <a:avLst/>
          </a:prstGeom>
          <a:solidFill>
            <a:srgbClr val="27AE60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找到！打印信息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3474720"/>
            <a:ext cx="0" cy="82296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95390" y="3566160"/>
            <a:ext cx="0" cy="27432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amond 11"/>
          <p:cNvSpPr/>
          <p:nvPr/>
        </p:nvSpPr>
        <p:spPr>
          <a:xfrm>
            <a:off x="4114800" y="3840480"/>
            <a:ext cx="3962095" cy="640080"/>
          </a:xfrm>
          <a:prstGeom prst="diamond">
            <a:avLst/>
          </a:prstGeom>
          <a:solidFill>
            <a:srgbClr val="FDEDEC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</a:defRPr>
            </a:pPr>
            <a:r>
              <a:t>flag == 1 ?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1371600" y="4160520"/>
            <a:ext cx="2743200" cy="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74320" y="4023360"/>
            <a:ext cx="1097280" cy="457200"/>
          </a:xfrm>
          <a:prstGeom prst="roundRect">
            <a:avLst/>
          </a:prstGeom>
          <a:solidFill>
            <a:srgbClr val="E74C3C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查无此人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4297680"/>
            <a:ext cx="3809390" cy="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95390" y="4480560"/>
            <a:ext cx="0" cy="36576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876495" y="4846320"/>
            <a:ext cx="2437790" cy="457200"/>
          </a:xfrm>
          <a:prstGeom prst="ellipse">
            <a:avLst/>
          </a:prstGeom>
          <a:solidFill>
            <a:srgbClr val="27AE60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返回主菜单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076895" y="4160520"/>
            <a:ext cx="1798625" cy="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875520" y="4160520"/>
            <a:ext cx="0" cy="13716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095390" y="4297680"/>
            <a:ext cx="3780130" cy="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三、系统功能流程图 — 删除联系人 del()</a:t>
            </a:r>
          </a:p>
        </p:txBody>
      </p:sp>
      <p:sp>
        <p:nvSpPr>
          <p:cNvPr id="3" name="Oval 2"/>
          <p:cNvSpPr/>
          <p:nvPr/>
        </p:nvSpPr>
        <p:spPr>
          <a:xfrm>
            <a:off x="4876495" y="1188720"/>
            <a:ext cx="2437790" cy="548640"/>
          </a:xfrm>
          <a:prstGeom prst="ellipse">
            <a:avLst/>
          </a:prstGeom>
          <a:solidFill>
            <a:srgbClr val="27AE60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del() 开始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5390" y="1737360"/>
            <a:ext cx="0" cy="27432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Parallelogram 4"/>
          <p:cNvSpPr/>
          <p:nvPr/>
        </p:nvSpPr>
        <p:spPr>
          <a:xfrm>
            <a:off x="4266590" y="2011680"/>
            <a:ext cx="3657600" cy="548640"/>
          </a:xfrm>
          <a:prstGeom prst="parallelogram">
            <a:avLst/>
          </a:prstGeom>
          <a:solidFill>
            <a:srgbClr val="E8DAEF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</a:defRPr>
            </a:pPr>
            <a:r>
              <a:t>输入要删除的姓名 name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95390" y="2560320"/>
            <a:ext cx="0" cy="27432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iamond 6"/>
          <p:cNvSpPr/>
          <p:nvPr/>
        </p:nvSpPr>
        <p:spPr>
          <a:xfrm>
            <a:off x="4114800" y="2834640"/>
            <a:ext cx="3962095" cy="731520"/>
          </a:xfrm>
          <a:prstGeom prst="diamond">
            <a:avLst/>
          </a:prstGeom>
          <a:solidFill>
            <a:srgbClr val="FDEDEC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</a:defRPr>
            </a:pPr>
            <a:r>
              <a:t>for 遍历</a:t>
            </a:r>
            <a:br/>
            <a:r>
              <a:t>strcmp 找到?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2286000" y="3200400"/>
            <a:ext cx="1828800" cy="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3017520"/>
            <a:ext cx="1828800" cy="54864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</a:defRPr>
            </a:pPr>
            <a:r>
              <a:t>for 循环</a:t>
            </a:r>
            <a:br/>
            <a:r>
              <a:t>book[j]=book[j+1]</a:t>
            </a:r>
            <a:br/>
            <a:r>
              <a:t>前移覆盖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3566160"/>
            <a:ext cx="0" cy="64008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" y="4206240"/>
            <a:ext cx="1828800" cy="457200"/>
          </a:xfrm>
          <a:prstGeom prst="roundRect">
            <a:avLst/>
          </a:prstGeom>
          <a:solidFill>
            <a:srgbClr val="27AE60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count--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4663440"/>
            <a:ext cx="0" cy="45720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7200" y="5120640"/>
            <a:ext cx="1828800" cy="457200"/>
          </a:xfrm>
          <a:prstGeom prst="roundRect">
            <a:avLst/>
          </a:prstGeom>
          <a:solidFill>
            <a:srgbClr val="27AE60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打印"已删除"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86000" y="5349240"/>
            <a:ext cx="3809390" cy="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95390" y="3566160"/>
            <a:ext cx="0" cy="27432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iamond 15"/>
          <p:cNvSpPr/>
          <p:nvPr/>
        </p:nvSpPr>
        <p:spPr>
          <a:xfrm>
            <a:off x="4114800" y="3840480"/>
            <a:ext cx="3962095" cy="640080"/>
          </a:xfrm>
          <a:prstGeom prst="diamond">
            <a:avLst/>
          </a:prstGeom>
          <a:solidFill>
            <a:srgbClr val="FDEDEC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</a:defRPr>
            </a:pPr>
            <a:r>
              <a:t>flag == 1 ?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076895" y="4160520"/>
            <a:ext cx="1798625" cy="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875520" y="3931920"/>
            <a:ext cx="1188720" cy="457200"/>
          </a:xfrm>
          <a:prstGeom prst="roundRect">
            <a:avLst/>
          </a:prstGeom>
          <a:solidFill>
            <a:srgbClr val="E74C3C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未找到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75520" y="4389120"/>
            <a:ext cx="0" cy="96012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095390" y="5349240"/>
            <a:ext cx="3780130" cy="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876495" y="5349240"/>
            <a:ext cx="2437790" cy="457200"/>
          </a:xfrm>
          <a:prstGeom prst="ellipse">
            <a:avLst/>
          </a:prstGeom>
          <a:solidFill>
            <a:srgbClr val="27AE60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返回主菜单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四、核心代码展示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980B9"/>
                </a:solidFill>
              </a:defRPr>
            </a:pPr>
            <a:r>
              <a:t>▸ 主循环 while(1) + switch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058400" cy="1828800"/>
          </a:xfrm>
          <a:prstGeom prst="roundRect">
            <a:avLst/>
          </a:prstGeom>
          <a:solidFill>
            <a:srgbClr val="2D2D2D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A8FF60"/>
                </a:solidFill>
                <a:latin typeface="Consolas"/>
              </a:defRPr>
            </a:pPr>
            <a:r>
              <a:t>int op;</a:t>
            </a:r>
            <a:br/>
            <a:r>
              <a:t>while(1) {</a:t>
            </a:r>
            <a:br/>
            <a:r>
              <a:t>    menu();</a:t>
            </a:r>
            <a:br/>
            <a:r>
              <a:t>    scanf("%d", &amp;op);</a:t>
            </a:r>
            <a:br/>
            <a:r>
              <a:t>    switch(op) {</a:t>
            </a:r>
            <a:br/>
            <a:r>
              <a:t>        case 1: add(); break;</a:t>
            </a:r>
            <a:br/>
            <a:r>
              <a:t>        case 2: show(); break;</a:t>
            </a:r>
            <a:br/>
            <a:r>
              <a:t>        case 3: search(); break;</a:t>
            </a:r>
            <a:br/>
            <a:r>
              <a:t>        case 4: del(); break;</a:t>
            </a:r>
            <a:br/>
            <a:r>
              <a:t>        case 0: return 0;</a:t>
            </a:r>
            <a:br/>
            <a:r>
              <a:t>        default: printf("无效选项");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980B9"/>
                </a:solidFill>
              </a:defRPr>
            </a:pPr>
            <a:r>
              <a:t>▸ 删除联系人（前移覆盖法）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389120"/>
            <a:ext cx="10058400" cy="1828800"/>
          </a:xfrm>
          <a:prstGeom prst="roundRect">
            <a:avLst/>
          </a:prstGeom>
          <a:solidFill>
            <a:srgbClr val="2D2D2D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A8FF60"/>
                </a:solidFill>
                <a:latin typeface="Consolas"/>
              </a:defRPr>
            </a:pPr>
            <a:r>
              <a:t>for(j = i; j &lt; count-1; j++) {</a:t>
            </a:r>
            <a:br/>
            <a:r>
              <a:t>    book[j] = book[j+1];</a:t>
            </a:r>
            <a:br/>
            <a:r>
              <a:t>}</a:t>
            </a:r>
            <a:br/>
            <a:r>
              <a:t>count--;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五、运行演示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188720"/>
            <a:ext cx="5029200" cy="5029200"/>
          </a:xfrm>
          <a:prstGeom prst="roundRect">
            <a:avLst/>
          </a:prstGeom>
          <a:solidFill>
            <a:srgbClr val="1E1E1E"/>
          </a:solidFill>
          <a:ln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00FF00"/>
                </a:solidFill>
                <a:latin typeface="Consolas"/>
              </a:defRPr>
            </a:pPr>
            <a:r>
              <a:t>程序运行效果：</a:t>
            </a:r>
            <a:br/>
            <a:br/>
            <a:r>
              <a:t>通讯录              ← 主菜单</a:t>
            </a:r>
            <a:br/>
            <a:r>
              <a:t>1.添加联系人</a:t>
            </a:r>
            <a:br/>
            <a:r>
              <a:t>2.查看所有联系人</a:t>
            </a:r>
            <a:br/>
            <a:r>
              <a:t>3.拿名字找人</a:t>
            </a:r>
            <a:br/>
            <a:r>
              <a:t>4.删除联系人</a:t>
            </a:r>
            <a:br/>
            <a:r>
              <a:t>0.go out system</a:t>
            </a:r>
            <a:br/>
            <a:r>
              <a:t>输入相应编码：1</a:t>
            </a:r>
            <a:br/>
            <a:br/>
            <a:r>
              <a:t>请输入名字：张三</a:t>
            </a:r>
            <a:br/>
            <a:r>
              <a:t>输入电话号码：13800138000</a:t>
            </a:r>
            <a:br/>
            <a:r>
              <a:t>成功输入！</a:t>
            </a:r>
            <a:br/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</a:defRPr>
            </a:pPr>
            <a:r>
              <a:t>功能验证要点：</a:t>
            </a:r>
            <a:br/>
            <a:br/>
            <a:r>
              <a:t>✅ 添加联系人：输入姓名+电话</a:t>
            </a:r>
            <a:br/>
            <a:br/>
            <a:r>
              <a:t>✅ 查看所有：显示序号和完整信息</a:t>
            </a:r>
            <a:br/>
            <a:br/>
            <a:r>
              <a:t>✅ 查找：按姓名精确匹配</a:t>
            </a:r>
            <a:br/>
            <a:br/>
            <a:r>
              <a:t>✅ 删除：查找到后前移覆盖删除</a:t>
            </a:r>
            <a:br/>
            <a:br/>
            <a:r>
              <a:t>✅ 退出：return 0 结束程序</a:t>
            </a:r>
            <a:br/>
            <a:br/>
            <a:r>
              <a:t>⚠️ 边界处理：通讯录满50人提示、</a:t>
            </a:r>
            <a:br/>
            <a:r>
              <a:t>   空通讯录提示、未找到提示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六、总结与体会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</a:defRPr>
            </a:pPr>
            <a:r>
              <a:t>项目总结：</a:t>
            </a:r>
            <a:br/>
            <a:r>
              <a:t>  • 成功实现了基于C语言的通讯录管理系统</a:t>
            </a:r>
            <a:br/>
            <a:r>
              <a:t>  • 涵盖增、查、显、删四大核心功能</a:t>
            </a:r>
            <a:br/>
            <a:r>
              <a:t>  • 代码结构清晰，模块化程度高</a:t>
            </a:r>
            <a:br/>
            <a:br/>
            <a:r>
              <a:t>技术要点：</a:t>
            </a:r>
            <a:br/>
            <a:r>
              <a:t>  • 结构体（struct）封装数据</a:t>
            </a:r>
            <a:br/>
            <a:r>
              <a:t>  • 数组管理多个联系人</a:t>
            </a:r>
            <a:br/>
            <a:r>
              <a:t>  • 字符串比较 strcmp 实现查找</a:t>
            </a:r>
            <a:br/>
            <a:r>
              <a:t>  • 前移覆盖法删除元素</a:t>
            </a:r>
            <a:br/>
            <a:br/>
            <a:r>
              <a:t>课程收获：</a:t>
            </a:r>
            <a:br/>
            <a:r>
              <a:t>  • 加深了对C语言结构体、数组、字符串处理的理解</a:t>
            </a:r>
            <a:br/>
            <a:r>
              <a:t>  • 掌握了模块化编程思想（函数划分）</a:t>
            </a:r>
            <a:br/>
            <a:r>
              <a:t>  • 学会了程序设计中的边界情况处理</a:t>
            </a:r>
            <a:br/>
            <a:r>
              <a:t>  • 体会了循环控制结构在实际项目中的应用</a:t>
            </a:r>
            <a:br/>
            <a:br/>
            <a:r>
              <a:t>改进方向：</a:t>
            </a:r>
            <a:br/>
            <a:r>
              <a:t>  • 可增加文件读写功能，实现数据持久化</a:t>
            </a:r>
            <a:br/>
            <a:r>
              <a:t>  • 可支持模糊查找和分组管理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5C1E9"/>
                </a:solidFill>
              </a:defRPr>
            </a:pPr>
            <a:r>
              <a:t>欢迎提问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206240"/>
            <a:ext cx="4876495" cy="45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F8C8D"/>
                </a:solidFill>
              </a:defRPr>
            </a:pPr>
            <a:r>
              <a:t>秦宇  2025级通信工程本科一班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